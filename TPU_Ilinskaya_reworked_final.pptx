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Цена кв.м, тыс. руб.</c:v>
                </c:pt>
              </c:strCache>
            </c:strRef>
          </c:tx>
          <c:spPr>
            <a:solidFill>
              <a:srgbClr val="0B5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5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5E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5E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СберСити</c:v>
                  </c:pt>
                  <c:pt idx="1">
                    <c:v>Строгино 360</c:v>
                  </c:pt>
                  <c:pt idx="2">
                    <c:v>Мыс</c:v>
                  </c:pt>
                  <c:pt idx="3">
                    <c:v>Сити Бэй</c:v>
                  </c:pt>
                  <c:pt idx="4">
                    <c:v>Нексус</c:v>
                  </c:pt>
                  <c:pt idx="5">
                    <c:v>Квартал
Строгино</c:v>
                  </c:pt>
                  <c:pt idx="6">
                    <c:v>Резиденции
Сколково</c:v>
                  </c:pt>
                  <c:pt idx="7">
                    <c:v>Станиславский</c:v>
                  </c:pt>
                  <c:pt idx="8">
                    <c:v>Страна.
Озерная</c:v>
                  </c:pt>
                  <c:pt idx="9">
                    <c:v>Родина
Переделкино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483</c:v>
                </c:pt>
                <c:pt idx="1">
                  <c:v>498</c:v>
                </c:pt>
                <c:pt idx="2">
                  <c:v>340</c:v>
                </c:pt>
                <c:pt idx="3">
                  <c:v>385</c:v>
                </c:pt>
                <c:pt idx="4">
                  <c:v>285</c:v>
                </c:pt>
                <c:pt idx="5">
                  <c:v>378</c:v>
                </c:pt>
                <c:pt idx="6">
                  <c:v>268</c:v>
                </c:pt>
                <c:pt idx="7">
                  <c:v>305</c:v>
                </c:pt>
                <c:pt idx="8">
                  <c:v>262</c:v>
                </c:pt>
                <c:pt idx="9">
                  <c:v>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Бюджет, млн руб.</c:v>
                </c:pt>
              </c:strCache>
            </c:strRef>
          </c:tx>
          <c:spPr>
            <a:solidFill>
              <a:srgbClr val="0B5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5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СберСити</c:v>
                  </c:pt>
                  <c:pt idx="1">
                    <c:v>Мыс</c:v>
                  </c:pt>
                  <c:pt idx="2">
                    <c:v>Строгино 360</c:v>
                  </c:pt>
                  <c:pt idx="3">
                    <c:v>Сити Бэй</c:v>
                  </c:pt>
                  <c:pt idx="4">
                    <c:v>Станиславский</c:v>
                  </c:pt>
                  <c:pt idx="5">
                    <c:v>Нексус</c:v>
                  </c:pt>
                  <c:pt idx="6">
                    <c:v>Квартал
Строгино</c:v>
                  </c:pt>
                  <c:pt idx="7">
                    <c:v>Резиденции
Сколково</c:v>
                  </c:pt>
                  <c:pt idx="8">
                    <c:v>Родина
Переделкино</c:v>
                  </c:pt>
                  <c:pt idx="9">
                    <c:v>Страна.
Озерная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39.8</c:v>
                </c:pt>
                <c:pt idx="1">
                  <c:v>24.6</c:v>
                </c:pt>
                <c:pt idx="2">
                  <c:v>25.9</c:v>
                </c:pt>
                <c:pt idx="3">
                  <c:v>20.6</c:v>
                </c:pt>
                <c:pt idx="4">
                  <c:v>17.8</c:v>
                </c:pt>
                <c:pt idx="5">
                  <c:v>15.8</c:v>
                </c:pt>
                <c:pt idx="6">
                  <c:v>18.1</c:v>
                </c:pt>
                <c:pt idx="7">
                  <c:v>16.6</c:v>
                </c:pt>
                <c:pt idx="8">
                  <c:v>14.2</c:v>
                </c:pt>
                <c:pt idx="9">
                  <c:v>12.6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Ср. площадь, кв.м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99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BF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СберСити</c:v>
                  </c:pt>
                  <c:pt idx="1">
                    <c:v>Мыс</c:v>
                  </c:pt>
                  <c:pt idx="2">
                    <c:v>Строгино 360</c:v>
                  </c:pt>
                  <c:pt idx="3">
                    <c:v>Сити Бэй</c:v>
                  </c:pt>
                  <c:pt idx="4">
                    <c:v>Станиславский</c:v>
                  </c:pt>
                  <c:pt idx="5">
                    <c:v>Нексус</c:v>
                  </c:pt>
                  <c:pt idx="6">
                    <c:v>Квартал
Строгино</c:v>
                  </c:pt>
                  <c:pt idx="7">
                    <c:v>Резиденции
Сколково</c:v>
                  </c:pt>
                  <c:pt idx="8">
                    <c:v>Родина
Переделкино</c:v>
                  </c:pt>
                  <c:pt idx="9">
                    <c:v>Страна.
Озерная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82.4</c:v>
                </c:pt>
                <c:pt idx="1">
                  <c:v>72.4</c:v>
                </c:pt>
                <c:pt idx="2">
                  <c:v>52.1</c:v>
                </c:pt>
                <c:pt idx="3">
                  <c:v>53.6</c:v>
                </c:pt>
                <c:pt idx="4">
                  <c:v>58.3</c:v>
                </c:pt>
                <c:pt idx="5">
                  <c:v>55.4</c:v>
                </c:pt>
                <c:pt idx="6">
                  <c:v>47.8</c:v>
                </c:pt>
                <c:pt idx="7">
                  <c:v>61.8</c:v>
                </c:pt>
                <c:pt idx="8">
                  <c:v>58</c:v>
                </c:pt>
                <c:pt idx="9">
                  <c:v>48.2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137"/>
                </a:solidFill>
                <a:latin typeface="Arial"/>
              </a:rPr>
              <a:t>Динамика средней цены кв.м (тыс. руб.)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Ср. цена кв.м, тыс. руб.</c:v>
                </c:pt>
              </c:strCache>
            </c:strRef>
          </c:tx>
          <c:spPr>
            <a:solidFill>
              <a:srgbClr val="0B5E8C"/>
            </a:solidFill>
            <a:ln w="38100" cap="flat">
              <a:solidFill>
                <a:srgbClr val="0B5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B5E8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5E8C"/>
              </a:solidFill>
              <a:ln w="9525" cap="flat">
                <a:solidFill>
                  <a:srgbClr val="0B5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Q4 2022</c:v>
                  </c:pt>
                  <c:pt idx="1">
                    <c:v>Q2 2023</c:v>
                  </c:pt>
                  <c:pt idx="2">
                    <c:v>Q4 2023</c:v>
                  </c:pt>
                  <c:pt idx="3">
                    <c:v>Q2 2024</c:v>
                  </c:pt>
                  <c:pt idx="4">
                    <c:v>Q4 2024</c:v>
                  </c:pt>
                  <c:pt idx="5">
                    <c:v>Q2 2025</c:v>
                  </c:pt>
                  <c:pt idx="6">
                    <c:v>Q4 2025</c:v>
                  </c:pt>
                  <c:pt idx="7">
                    <c:v>Q1 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280</c:v>
                </c:pt>
                <c:pt idx="1">
                  <c:v>310</c:v>
                </c:pt>
                <c:pt idx="2">
                  <c:v>340</c:v>
                </c:pt>
                <c:pt idx="3">
                  <c:v>370</c:v>
                </c:pt>
                <c:pt idx="4">
                  <c:v>405</c:v>
                </c:pt>
                <c:pt idx="5">
                  <c:v>440</c:v>
                </c:pt>
                <c:pt idx="6">
                  <c:v>470</c:v>
                </c:pt>
                <c:pt idx="7">
                  <c:v>483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B5E8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137"/>
                </a:solidFill>
                <a:latin typeface="Arial"/>
              </a:rPr>
              <a:t>Динамика средней цены кв.м (тыс. руб.)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Ср. цена кв.м, тыс. руб.</c:v>
                </c:pt>
              </c:strCache>
            </c:strRef>
          </c:tx>
          <c:spPr>
            <a:solidFill>
              <a:srgbClr val="1A5276"/>
            </a:solidFill>
            <a:ln w="38100" cap="flat">
              <a:solidFill>
                <a:srgbClr val="1A52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527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5276"/>
              </a:solidFill>
              <a:ln w="9525" cap="flat">
                <a:solidFill>
                  <a:srgbClr val="1A52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Q4 2024</c:v>
                  </c:pt>
                  <c:pt idx="1">
                    <c:v>Q1 2025</c:v>
                  </c:pt>
                  <c:pt idx="2">
                    <c:v>Q2 2025</c:v>
                  </c:pt>
                  <c:pt idx="3">
                    <c:v>Q3 2025</c:v>
                  </c:pt>
                  <c:pt idx="4">
                    <c:v>Q4 2025</c:v>
                  </c:pt>
                  <c:pt idx="5">
                    <c:v>Q1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250</c:v>
                </c:pt>
                <c:pt idx="1">
                  <c:v>265</c:v>
                </c:pt>
                <c:pt idx="2">
                  <c:v>275</c:v>
                </c:pt>
                <c:pt idx="3">
                  <c:v>285</c:v>
                </c:pt>
                <c:pt idx="4">
                  <c:v>298</c:v>
                </c:pt>
                <c:pt idx="5">
                  <c:v>305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527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Ср. темп продаж, лотов/мес.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B5E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Сити Бэй</c:v>
                  </c:pt>
                  <c:pt idx="1">
                    <c:v>Квартал
Строгино</c:v>
                  </c:pt>
                  <c:pt idx="2">
                    <c:v>Строгино 360</c:v>
                  </c:pt>
                  <c:pt idx="3">
                    <c:v>Резиденции
Сколково</c:v>
                  </c:pt>
                  <c:pt idx="4">
                    <c:v>Мыс</c:v>
                  </c:pt>
                  <c:pt idx="5">
                    <c:v>СберСити</c:v>
                  </c:pt>
                  <c:pt idx="6">
                    <c:v>Нексус</c:v>
                  </c:pt>
                  <c:pt idx="7">
                    <c:v>Страна.
Озерная</c:v>
                  </c:pt>
                  <c:pt idx="8">
                    <c:v>Родина
Переделкино</c:v>
                  </c:pt>
                  <c:pt idx="9">
                    <c:v>Станиславский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</c:v>
                </c:pt>
                <c:pt idx="1">
                  <c:v>25</c:v>
                </c:pt>
                <c:pt idx="2">
                  <c:v>45</c:v>
                </c:pt>
                <c:pt idx="3">
                  <c:v>24</c:v>
                </c:pt>
                <c:pt idx="4">
                  <c:v>18</c:v>
                </c:pt>
                <c:pt idx="5">
                  <c:v>12</c:v>
                </c:pt>
                <c:pt idx="6">
                  <c:v>20</c:v>
                </c:pt>
                <c:pt idx="7">
                  <c:v>30</c:v>
                </c:pt>
                <c:pt idx="8">
                  <c:v>15</c:v>
                </c:pt>
                <c:pt idx="9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137"/>
                </a:solidFill>
                <a:latin typeface="Arial"/>
              </a:rPr>
              <a:t>Средняя цена кв.м, тыс. руб. / Прогноз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Стратегия 1 (активная)</c:v>
                </c:pt>
              </c:strCache>
            </c:strRef>
          </c:tx>
          <c:spPr>
            <a:solidFill>
              <a:srgbClr val="0B5E8C"/>
            </a:solidFill>
            <a:ln w="38100" cap="flat">
              <a:solidFill>
                <a:srgbClr val="0B5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5E8C"/>
              </a:solidFill>
              <a:ln w="9525" cap="flat">
                <a:solidFill>
                  <a:srgbClr val="0B5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III кв. 26</c:v>
                  </c:pt>
                  <c:pt idx="1">
                    <c:v>I кв. 27</c:v>
                  </c:pt>
                  <c:pt idx="2">
                    <c:v>III кв. 27</c:v>
                  </c:pt>
                  <c:pt idx="3">
                    <c:v>I кв. 28</c:v>
                  </c:pt>
                  <c:pt idx="4">
                    <c:v>III кв. 28</c:v>
                  </c:pt>
                  <c:pt idx="5">
                    <c:v>I кв. 29</c:v>
                  </c:pt>
                  <c:pt idx="6">
                    <c:v>III кв. 29</c:v>
                  </c:pt>
                  <c:pt idx="7">
                    <c:v>I кв. 30</c:v>
                  </c:pt>
                  <c:pt idx="8">
                    <c:v>III кв. 30</c:v>
                  </c:pt>
                  <c:pt idx="9">
                    <c:v>I кв. 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458</c:v>
                </c:pt>
                <c:pt idx="1">
                  <c:v>480</c:v>
                </c:pt>
                <c:pt idx="2">
                  <c:v>495</c:v>
                </c:pt>
                <c:pt idx="3">
                  <c:v>520</c:v>
                </c:pt>
                <c:pt idx="4">
                  <c:v>548</c:v>
                </c:pt>
                <c:pt idx="5">
                  <c:v>570</c:v>
                </c:pt>
                <c:pt idx="6">
                  <c:v>590</c:v>
                </c:pt>
                <c:pt idx="7">
                  <c:v>610</c:v>
                </c:pt>
                <c:pt idx="8">
                  <c:v>630</c:v>
                </c:pt>
                <c:pt idx="9">
                  <c:v>650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Стратегия 2 (консерватив.)</c:v>
                </c:pt>
              </c:strCache>
            </c:strRef>
          </c:tx>
          <c:spPr>
            <a:solidFill>
              <a:srgbClr val="0096C7"/>
            </a:solidFill>
            <a:ln w="38100" cap="flat">
              <a:solidFill>
                <a:srgbClr val="0096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6C7"/>
              </a:solidFill>
              <a:ln w="9525" cap="flat">
                <a:solidFill>
                  <a:srgbClr val="0096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III кв. 26</c:v>
                  </c:pt>
                  <c:pt idx="1">
                    <c:v>I кв. 27</c:v>
                  </c:pt>
                  <c:pt idx="2">
                    <c:v>III кв. 27</c:v>
                  </c:pt>
                  <c:pt idx="3">
                    <c:v>I кв. 28</c:v>
                  </c:pt>
                  <c:pt idx="4">
                    <c:v>III кв. 28</c:v>
                  </c:pt>
                  <c:pt idx="5">
                    <c:v>I кв. 29</c:v>
                  </c:pt>
                  <c:pt idx="6">
                    <c:v>III кв. 29</c:v>
                  </c:pt>
                  <c:pt idx="7">
                    <c:v>I кв. 30</c:v>
                  </c:pt>
                  <c:pt idx="8">
                    <c:v>III кв. 30</c:v>
                  </c:pt>
                  <c:pt idx="9">
                    <c:v>I кв. 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458</c:v>
                </c:pt>
                <c:pt idx="1">
                  <c:v>480</c:v>
                </c:pt>
                <c:pt idx="2">
                  <c:v>495</c:v>
                </c:pt>
                <c:pt idx="3">
                  <c:v>520</c:v>
                </c:pt>
                <c:pt idx="4">
                  <c:v>555</c:v>
                </c:pt>
                <c:pt idx="5">
                  <c:v>582</c:v>
                </c:pt>
                <c:pt idx="6">
                  <c:v>605</c:v>
                </c:pt>
                <c:pt idx="7">
                  <c:v>628</c:v>
                </c:pt>
                <c:pt idx="8">
                  <c:v>655</c:v>
                </c:pt>
                <c:pt idx="9">
                  <c:v>680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C7"/>
                </a:solidFill>
              </a:rPr>
              <a:t>bnMAP.pro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Цифровой сервис мониторинга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и анализа рынка новостроек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6F4"/>
                </a:solidFill>
              </a:rPr>
              <a:t>Аналитический отчёт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E6F4"/>
                </a:solidFill>
              </a:rPr>
              <a:t>по проекту жилой застройки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ТПУ ИЛЬИНСКАЯ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г. Москва, Новорижское шоссе, 22 км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Класс: Бизнес (1 очередь – Бизнес-Лайт)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Дата отчёта: май 2026 г.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71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>
                    <a:alpha val="30000"/>
                  </a:srgbClr>
                </a:solidFill>
              </a:rPr>
              <a:t>Москва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>
                    <a:alpha val="30000"/>
                  </a:srgbClr>
                </a:solidFill>
              </a:rPr>
              <a:t>ЗАПАД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66928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6C7"/>
                </a:solidFill>
              </a:rPr>
              <a:t>Новорижское шоссе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96C7"/>
                </a:solidFill>
              </a:rPr>
              <a:t>22 км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4"/>
                </a:solidFill>
              </a:rPr>
              <a:t>ст. Ильинская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4"/>
                </a:solidFill>
              </a:rPr>
              <a:t>(откр. 2027 г.)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90B0"/>
                </a:solidFill>
              </a:rPr>
              <a:t>Конфиденциально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СТРУКТУРА ОТЧЁТА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658368" cy="109728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5568" y="106984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Анализ местоположения Проекта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143560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(Выводы — слайды 9, 13)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0" y="13075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6C7"/>
                </a:solidFill>
              </a:rPr>
              <a:t>Слайды 3–14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658368" cy="109728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15568" y="235000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Формирование конкурентной выборки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271576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Обзор проектов: предложение, спрос, ценообразование, выводы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6C7"/>
                </a:solidFill>
              </a:rPr>
              <a:t>Слайды 15–47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520440"/>
            <a:ext cx="658368" cy="109728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04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15568" y="363016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Ценообразование и стратегия реализации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99592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прогнозных сценария (предпосылки и выводы — слайд 55)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0" y="38679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6C7"/>
                </a:solidFill>
              </a:rPr>
              <a:t>Слайды 48–58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96C7"/>
                </a:solidFill>
              </a:rPr>
              <a:t>РАЗДЕЛ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Анализ местоположения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0" y="256032"/>
            <a:ext cx="2286000" cy="4887468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bnMAP.pro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2" name="TextBox 1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ОБ УЧАСТКЕ И МЕСТОПОЛОЖЕНИИ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3291840" cy="45720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82828"/>
                </a:solidFill>
              </a:defRPr>
            </a:pPr>
            <a:r>
              <a:t>• Кадастровый номер: 50:11:0050603:423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Площадь участка: ~4,2 га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Форма участка: вытянутый линейный тип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Север: Новорижское шоссе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Юг: Москва-река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Запад: Воронки / Архангельское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Восток: Рублёво / МКАД направление</a:t>
            </a:r>
          </a:p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Основной вывод: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Участок расположен в зоне активного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развития западного направления Москвы.</a:t>
            </a:r>
          </a:p>
        </p:txBody>
      </p:sp>
      <p:pic>
        <p:nvPicPr>
          <p:cNvPr id="4" name="Picture 3" descr="annotated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5029200" cy="25083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2" name="TextBox 1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ТРАНСПОРТНАЯ ДОСТУПНОСТЬ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3291840" cy="4572000"/>
          </a:xfrm>
          <a:prstGeom prst="roundRect">
            <a:avLst/>
          </a:prstGeom>
          <a:solidFill>
            <a:srgbClr val="EDF4FA"/>
          </a:solidFill>
          <a:ln>
            <a:solidFill>
              <a:srgbClr val="93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82828"/>
                </a:solidFill>
              </a:defRPr>
            </a:pPr>
            <a:r>
              <a:t>• Расстояние до МКАД: ~5 км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Москва-Сити: ~40–55 мин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м. Строгино: ~20–30 мин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ст. Ильинская: шаговая доступность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Новорижское шоссе — основной коридор</a:t>
            </a:r>
          </a:p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Основной вывод: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Проект обладает высокой перспективной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транспортной доступностью.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2" name="TextBox 1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ОБРАЗОВАНИЕ И ДОУ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3291840" cy="4572000"/>
          </a:xfrm>
          <a:prstGeom prst="roundRect">
            <a:avLst/>
          </a:prstGeom>
          <a:solidFill>
            <a:srgbClr val="EDF4FA"/>
          </a:solidFill>
          <a:ln>
            <a:solidFill>
              <a:srgbClr val="93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82828"/>
                </a:solidFill>
              </a:defRPr>
            </a:pPr>
            <a:r>
              <a:t>• Школы Ильинское-Усово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Школы СберСити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МГИМО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Физтех-лицей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Сколково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Сколково (с 2012 г.)</a:t>
            </a:r>
          </a:p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Основной вывод: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Локация формирует сильный образовательный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кластер западного направления.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2" name="TextBox 1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СПОРТ И РЕКРЕАЦИЯ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3291840" cy="4572000"/>
          </a:xfrm>
          <a:prstGeom prst="roundRect">
            <a:avLst/>
          </a:prstGeom>
          <a:solidFill>
            <a:srgbClr val="EDF4FA"/>
          </a:solidFill>
          <a:ln>
            <a:solidFill>
              <a:srgbClr val="93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82828"/>
                </a:solidFill>
              </a:defRPr>
            </a:pPr>
            <a:r>
              <a:t>• Серебряный бор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Мещерский парк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Outdoor-инфраструктура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Яхтинг и рекреация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Лесные массивы</a:t>
            </a:r>
          </a:p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Основной вывод: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Локация обладает выраженным природным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и рекреационным потенциалом.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2" name="TextBox 1"/>
          <p:cNvSpPr txBox="1"/>
          <p:nvPr/>
        </p:nvSpPr>
        <p:spPr>
          <a:xfrm>
            <a:off x="36576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ТОРГОВЛЯ И МЕДИЦИНА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3291840" cy="4572000"/>
          </a:xfrm>
          <a:prstGeom prst="roundRect">
            <a:avLst/>
          </a:prstGeom>
          <a:solidFill>
            <a:srgbClr val="EDF4FA"/>
          </a:solidFill>
          <a:ln>
            <a:solidFill>
              <a:srgbClr val="93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82828"/>
                </a:solidFill>
              </a:defRPr>
            </a:pPr>
            <a:r>
              <a:t>Торговля: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Vegas Crocus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Твой Дом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Глобус / METRO</a:t>
            </a:r>
          </a:p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Медицина: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Лапино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Медицинская инфраструктура Сколково</a:t>
            </a:r>
          </a:p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Основной вывод: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Инфраструктурное обеспечение района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продолжает активно развиваться.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ВЫВОДЫ: ОКРУЖЕНИЕ И ИНФРАСТРУКТУРА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274320" cy="1170432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97280"/>
            <a:ext cx="3749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Участок расположен в западном направлении — одном из наиболее экологически чистых и статусных в Московском регионе. Престижность Новорижского и Рублёво-Успенского направлений обеспечивает высокий спрос на качественное жильё.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24128"/>
            <a:ext cx="274320" cy="1170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1097280"/>
            <a:ext cx="3749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Открытие ст. «Ильинская» Рублёво-Архангельской линии метро (2027) станет ключевым драйвером роста цен и спроса. Прямая связь с деловым центром Москвы (м. «Деловой центр», «Выставочная») — главное конкурентное преимущество локации.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27432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359152"/>
            <a:ext cx="3749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В ближайшем окружении формируется мощная инфраструктурная база: «СберСити» (7 школ, 13 детсадов, поликлиники, торговля), «Строгино 360», «Мыс» — всё это повысит востребованность локации.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86000"/>
            <a:ext cx="27432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2359152"/>
            <a:ext cx="3749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Рекреационный потенциал локации высок: Москва-река, Мещерский парк, Серебряный бор, гольф-клубы, конные клубы, марины — соответствует требованиям ЦА Бизнес-класса.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547872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47872"/>
            <a:ext cx="274320" cy="1170432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621024"/>
            <a:ext cx="3749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Концентрация инновационных и образовательных учреждений (Сколково, Физтех, МГИМО) создаёт уникальную интеллектуальную среду, дополнительно формирующую платёжеспособный спрос в локации.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3547872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547872"/>
            <a:ext cx="274320" cy="1170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3621024"/>
            <a:ext cx="3749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Торговая и медицинская инфраструктура представлена в 10–20 минутах транспортной доступности (ТЦ «Твой Дом», «Крокус», клиника «Лапино», «Сколково»). По мере реализации проектов КРТ уровень локальной инфраструктуры существенно возрастёт.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SWOT-АНАЛИЗ: МЕСТОПОЛОЖЕНИЕ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420624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6070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ПРЕИМУЩЕСТВА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Престижное западное направление Москвы — Новорижское шоссе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Близость к РА-линии метро (ст. Ильинская, откр. 2027) — прямая связь с деловым центром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Благоприятная экологическая обстановка, рекреационные ресурсы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Окружение статусных проектов (СберСити, Сколково, Мыс)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Расположение в зоне формирования нового городского района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24128"/>
            <a:ext cx="42062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6070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СЛАБЫЕ СТОРОНЫ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389888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Значительная удалённость от центра Москвы (22 км по МКАД)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Общественный транспорт до открытия ст. Ильинская — затруднён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Возможные пробки на Новорижском шоссе в часы пик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Недостаточная развитость локальной торговой инфраструктуры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44368"/>
            <a:ext cx="4206240" cy="32004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98094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ВОЗМОЖНОСТИ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Открытие РА-линии — резкий рост цен и спроса после 2027 г.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Формирование нового делового и жилого кластера в западном направлении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Рост инфраструктуры в рамках СберСити, Строгино 360, Мыс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Инновационная среда Сколково — привлечение IT- и бизнес-аудитории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94436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44368"/>
            <a:ext cx="42062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98094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РИСКИ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310128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Задержка открытия ст. Ильинская — ограничение транспортной доступности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Рыночные риски: изменение условий ипотечного кредитования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Высокая конкуренция: СберСити как масштабный проект КРТ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Рост загруженности Новорижского шоссе в долгосрочной перспективе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SWOT-АНАЛИЗ: ПРОЕКТ ТПУ ИЛЬИНСКАЯ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420624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6070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ПРЕИМУЩЕСТВА ПРОЕКТА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Уникальное название «ТПУ» — прямая ассоциация с открытием ст. Ильинская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Дифференциация: 1 очередь (Бизнес-Лайт) — широкий охват ЦА, 2-3 очереди — полноценный Бизнес-класс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Отсутствие прямых конкурентов в классе Бизнес в непосредственной близости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Синергия с девелоперами классом выше (СберСити) — статусное окружение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24128"/>
            <a:ext cx="42062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6070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СЛАБЫЕ СТОРОНЫ ПРОЕКТА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389888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Новый девелопер — отсутствие известных реализованных проектов в МО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Строительство не начато — риск несоответствия ожиданий ЦА по срокам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Зависимость продаж от сроков открытия ст. Ильинская (2027)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Отделка квартир: необходимость чёткого решения по предложению в 1 очереди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44368"/>
            <a:ext cx="4206240" cy="32004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98094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ВОЗМОЖНОСТИ ПРОЕКТА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Рост цен после открытия метро — потенциал прирост 20–35% к цене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ЦА: IT-специалисты, предприниматели Сколково, Москва-Сити — высокий платёжеспособный спрос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Формирование комьюнити вокруг станции метро и инновационной среды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Возможность позиционирования как первый бизнес-класс у ст. Ильинская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94436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44368"/>
            <a:ext cx="42062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98094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РИСКИ ПРОЕКТА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310128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Перенос сроков открытия РА-линии метро — прямое влияние на продажи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Политика ЦБ: высокие ипотечные ставки ограничивают спрос в бизнес-классе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Конкуренция со стороны СберСити (бизнес-класс, сданные корпуса, известный бренд)
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</a:rPr>
              <a:t>Эксплуатационные расходы — критичный фактор для ЦА, важно заложить в концепцию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ОБЩИЕ ВЫВОДЫ ПО РАЗДЕЛУ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566928" cy="86868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143000"/>
            <a:ext cx="768096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Местоположение и окружение участка позволяют реализовать проект жилой застройки Бизнес-класса в рамках ТПУ Ильинская. Статус Новорижского направления и приближающееся открытие метро подтверждают обоснованность позиционирования.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11680"/>
            <a:ext cx="566928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768096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Открытие ст. «Ильинская» РА-линии метро в 2027 г. является ключевым катализатором роста стоимости проекта. Рекомендуется закладывать сценарии ценообразования с учётом данного события, максимизируя продажи после открытия станции.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85039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71800"/>
            <a:ext cx="56692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004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768096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Дифференциация продукта по очередям (1 оч. — компактные квартиры, Бизнес-Лайт; 2-3 оч. — полноценный Бизнес-класс) позволяет охватить более широкую ЦА и диверсифицировать риски реализации.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931920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931920"/>
            <a:ext cx="5669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768096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При формировании УТП Проекта рекомендуется делать акцент на: прямую связь с деловым центром Москвы после открытия метро; экологию и рекреацию западного направления; инновационную среду Сколково; камерность и приватность Бизнес-класса.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96C7"/>
                </a:solidFill>
              </a:rPr>
              <a:t>РАЗДЕЛ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Обзор проектов конкурентного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окружения в локации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0" y="256032"/>
            <a:ext cx="2286000" cy="4887468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bnMAP.pro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ПРОЕКТЫ КОНКУРЕНТНОГО ОКРУЖЕНИЯ В ЛОКАЦИИ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Целевой Проект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1024128"/>
            <a:ext cx="201168" cy="201168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005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Бизнес-класс (конкуренты)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89320" y="1024128"/>
            <a:ext cx="201168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005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Комфорт-класс (частичное пересечение ЦА)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8503920" cy="3108960"/>
          </a:xfrm>
          <a:prstGeom prst="rect">
            <a:avLst/>
          </a:prstGeom>
          <a:solidFill>
            <a:srgbClr val="E8F0F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245059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23957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ТПУ ИЛЬИНСКАЯ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(ПРОЕКТ)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1901952"/>
            <a:ext cx="182880" cy="182880"/>
          </a:xfrm>
          <a:prstGeom prst="ellipse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8470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5E8C"/>
                </a:solidFill>
              </a:rPr>
              <a:t>СберСити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2907792"/>
            <a:ext cx="182880" cy="182880"/>
          </a:xfrm>
          <a:prstGeom prst="ellipse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852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5E8C"/>
                </a:solidFill>
              </a:rPr>
              <a:t>Станиславский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1719072"/>
            <a:ext cx="182880" cy="1828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664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</a:rPr>
              <a:t>Строгино 360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52160" y="2267712"/>
            <a:ext cx="182880" cy="1828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2212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</a:rPr>
              <a:t>Квартал Строгино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51760" y="3547872"/>
            <a:ext cx="182880" cy="1828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</a:rPr>
              <a:t>Мыс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94560" y="2816352"/>
            <a:ext cx="182880" cy="1828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95728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</a:rPr>
              <a:t>Резиденции Сколково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92240" y="1444752"/>
            <a:ext cx="182880" cy="1828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13898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</a:rPr>
              <a:t>Сити Бэй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554480" y="3730752"/>
            <a:ext cx="182880" cy="1828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55648" y="36758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</a:rPr>
              <a:t>Родина Переделкино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0080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← Центр Москвы (35–50 мин)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МКАД 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62856"/>
            <a:ext cx="8321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Вывод: Основную конкурентную угрозу в классе Бизнес представляет «СберСити» (масштаб, бренд). «Станиславский» — прямой конкурент по позиционированию. Проекты комфорт-класса частично пересекаются с 1 очередью Проекта.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КОНКУРЕНТНАЯ ВЫБОРКА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2296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Параметры предложения квартир в конкурентном окружении на май 2026 г.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24128"/>
          <a:ext cx="8686800" cy="38862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280160"/>
                <a:gridCol w="822960"/>
                <a:gridCol w="868680"/>
                <a:gridCol w="1005840"/>
                <a:gridCol w="96012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Название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проекта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Класс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Застройщик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Лотов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в экспозиции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Ср. площадь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лота, кв. м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Ср. цена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кв. м, руб.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Ср. бюджет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лота, млн руб.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Дата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РВЭ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СберСити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АО СЗ Рублёво-Арханг.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178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82.4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483 000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39.8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2026–2027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Станиславский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ОМ Девелопмент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58.3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305 000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17.8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 кв. 2027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Мыс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Премиум/Бизнес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MR Group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286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72.4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340 000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24.6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2026–2027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Строгино 360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Комфорт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ПИК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415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52.1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498 000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25.9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IV кв. 2028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Резиденции Сколково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Абсолют Недвиж.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61.8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268 000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16.6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III кв. 2026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Родина Переделкино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ООО СЗ Родина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180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58.0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245 000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14.2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2026–2027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Нексус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Комфорт+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А101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220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55.4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285 000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15.8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IV кв. 2026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Страна. Озерная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Комфорт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ФСК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340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48.2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262 000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12.6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 кв. 2027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Сити Бэй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Комфорт+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MR Group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520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53.6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385 000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20.6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2026–2028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Квартал Строгино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Комфорт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Самолёт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384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47.8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378 000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18.1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II–IV кв. 2026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КОНКУРЕНТНАЯ ВЫБОРКА: ПОЗИЦИОНИРОВАНИЕ, ПРЕИМУЩЕСТВА И НЕДОСТАТКИ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50392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СберСити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Позиционирование: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Первый инновационный смарт-район России на берегу Москвы-реки.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0" y="1078992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078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Преимущества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11680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Уникальный масштаб и инфраструктура. Бренд Сбербанка. ИИ в ЖКХ. 7 школ, 13 детсадов.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166360" y="1078992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078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Недостатки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166360" y="12984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Задержки строительства. Высокие цены. Значительный объём нереализованного предложения.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8503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84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Станиславский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Позиционирование: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Малоэтажный жилой квартал в датско-голландском стиле в 10 мин от Москвы.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011680" y="2066544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2066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Преимущества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1168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Камерность, малоэтажность. Авторская архитектура. Панорамные террасы. Варианты отделки.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166360" y="2066544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066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Недостатки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66360" y="2286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Новый девелопер. Близость к Новорижскому шоссе (400 м). Нет метро в пешей доступности.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2999232"/>
            <a:ext cx="850392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723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Мыс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438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Позиционирование: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11480" y="3593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Загородный премиум-проект 200 га в Ликино — урбан-блоки, клубные дома, таунхаусы, коттеджи.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11680" y="3054096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Преимущества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011680" y="3273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Уникальное природное расположение. Разнообразие форматов. Инфраструктура курортного уровня.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166360" y="3054096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Недостатки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166360" y="32735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Удалённость от метро. Цены выше рынка для некоторых форматов. Длительный срок реализации.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3986784"/>
            <a:ext cx="8503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0599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Строгино 360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425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Позиционирование: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11480" y="4581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Флагман ПИК в экологичном р-не Строгино. 3.4 км пешеходного бульвара.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011680" y="4041648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4041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Преимущества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011680" y="42611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Метро в пешей доступности. Бульвар. Физтех-лицей. Природный парк рядом.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166360" y="4041648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4041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Недостатки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66360" y="42611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Высокая плотность застройки. Самый высокий бюджет покупки среди комфорт-класса.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СРАВНИТЕЛЬНЫЙ АНАЛИЗ: СРЕДНИЕ ЦЕНЫ КВ.М В ЭКСПОЗИЦИИ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024128"/>
          <a:ext cx="8503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СРАВНИТЕЛЬНЫЙ АНАЛИЗ: СРЕДНИЙ БЮДЖЕТ И ПЛОЩАДЬ ЛОТОВ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024128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943600" y="1024128"/>
          <a:ext cx="2880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ЦЕНЫ: СБЕРСИТИ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005840"/>
          <a:ext cx="56692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005840"/>
            <a:ext cx="274320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КЛЮЧЕВЫЕ ПОКАЗАТЕЛИ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23774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1508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8C"/>
                </a:solidFill>
              </a:rPr>
              <a:t>+72%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309360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рост цены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со старта продаж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309360" y="2331720"/>
            <a:ext cx="23774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2377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8C"/>
                </a:solidFill>
              </a:rPr>
              <a:t>483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5E8C"/>
                </a:solidFill>
              </a:rPr>
              <a:t>тыс.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09360" y="2734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средняя цена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кв.м в экспозиции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309360" y="3200400"/>
            <a:ext cx="23774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8C"/>
                </a:solidFill>
              </a:rPr>
              <a:t>82.4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5E8C"/>
                </a:solidFill>
              </a:rPr>
              <a:t>кв.м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309360" y="36027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средняя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площадь лота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309360" y="4069080"/>
            <a:ext cx="23774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9360" y="4114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8C"/>
                </a:solidFill>
              </a:rPr>
              <a:t>39.8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5E8C"/>
                </a:solidFill>
              </a:rPr>
              <a:t>млн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309360" y="44714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средний бюджет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покупки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ЦЕНЫ: СТАНИСЛАВСКИЙ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005840"/>
          <a:ext cx="56692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005840"/>
            <a:ext cx="274320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КЛЮЧЕВЫЕ ПОКАЗАТЕЛИ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23774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1508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</a:rPr>
              <a:t>+22%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309360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рост цены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со старта продаж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309360" y="2331720"/>
            <a:ext cx="23774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2377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</a:rPr>
              <a:t>305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</a:rPr>
              <a:t>тыс.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09360" y="2734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средняя цена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кв.м в экспозиции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309360" y="3200400"/>
            <a:ext cx="23774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</a:rPr>
              <a:t>58.3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</a:rPr>
              <a:t>кв.м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309360" y="36027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средняя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площадь лота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309360" y="4069080"/>
            <a:ext cx="23774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9360" y="4114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</a:rPr>
              <a:t>17.8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</a:rPr>
              <a:t>млн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309360" y="44714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средний бюджет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покупки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СПРОС: СРАВНЕНИЕ ТЕМПОВ ПРОДАЖ В КОНКУРЕНТНОЙ ВЫБОРКЕ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024128"/>
          <a:ext cx="8503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ВЫВОДЫ: КОНКУРЕНТНОЕ ОКРУЖЕНИЕ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50392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256032" cy="713232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97280"/>
            <a:ext cx="8046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В локации Проекта отсутствуют прямые конкуренты в классе Бизнес с аналогичными параметрами продукта. «СберСити» — более масштабный проект с иным ценовым уровнем. «Станиславский» — малоэтажный проект ближайшего конкурентного сравнения.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28800"/>
            <a:ext cx="256032" cy="7132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901952"/>
            <a:ext cx="8046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Ценовой диапазон в бизнес-классе: от 305 000 руб./кв.м (Станиславский) до 483 000 руб./кв.м (СберСити). Средние бюджеты: от 17.8 млн (Станиславский) до 39.8 млн (СберСити).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850392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33472"/>
            <a:ext cx="25603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706624"/>
            <a:ext cx="8046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В комфорт-классе средние цены составляют 245 000–498 000 руб./кв.м, средние бюджеты — 12.6–25.9 млн руб. Часть ЦА 1 очереди Проекта будет рассматривать эти проекты наравне с Проектом.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438144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38144"/>
            <a:ext cx="25603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511296"/>
            <a:ext cx="8046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Максимальный темп продаж — 61 лот/месяц («Сити Бэй», крупный комфорт+ проект с метро в доступности). В бизнес-классе реалистичный темп — 8–12 лотов/месяц на старте. Пик — до 25–35 лотов/месяц после открытия ст. Ильинская.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4242816"/>
            <a:ext cx="850392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242816"/>
            <a:ext cx="256032" cy="713232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315968"/>
            <a:ext cx="8046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Объём нереализованных остатков в выборке значителен: «СберСити» — несколько тысяч лотов, «Строгино 360» — 415+ лотов. Умеренная конкуренция в бизнес-сегменте позволяет «ТПУ Ильинская» занять нишу.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96C7"/>
                </a:solidFill>
              </a:rPr>
              <a:t>РАЗДЕЛ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Ценообразование и стратегия реализации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0" y="256032"/>
            <a:ext cx="2286000" cy="4887468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bnMAP.pro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ЦЕНООБРАЗОВАНИЕ НА СТАРТЕ ПРОДАЖ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Методика и исходные предпосылки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4160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24128"/>
            <a:ext cx="64008" cy="246888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024128"/>
            <a:ext cx="39776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E8C"/>
                </a:solidFill>
              </a:rPr>
              <a:t>МЕТОДИКА РАСЧЁТА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1298448"/>
            <a:ext cx="397764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Метод:
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Экспертная оценка методом сравнительного анализа с корректировками по ключевым ценообразующим факторам.
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Предпосылки:
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Старт продаж — III квартал 2026 г.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Ввод в эксплуатацию 1 очереди — IV квартал 2028 г.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Ввод 2-3 очередей — 2029–2031 г.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Открытие ст. Ильинская — 2027 г.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Инфляция 4–6% до 2030 г.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Условно стабильная экономическая ситуация.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3566160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566160"/>
            <a:ext cx="64008" cy="13716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3566160"/>
            <a:ext cx="39776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C7"/>
                </a:solidFill>
              </a:rPr>
              <a:t>КЛЮЧЕВЫЕ ЦЕНООБРАЗУЮЩИЕ ФАКТОРЫ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" y="3840480"/>
            <a:ext cx="39776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Девелопер; местоположение; транспортная доступность; негативные и позитивные внешние факторы; стадия строительства; масштаб и класс; площади лотов; наличие отделки; темп продаж.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Открытие метро — отдельный ключевой фактор роста цены.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69848"/>
          <a:ext cx="4114800" cy="3822192"/>
        </p:xfrm>
        <a:graphic>
          <a:graphicData uri="http://schemas.openxmlformats.org/drawingml/2006/table">
            <a:tbl>
              <a:tblPr/>
              <a:tblGrid>
                <a:gridCol w="1828800"/>
                <a:gridCol w="768096"/>
                <a:gridCol w="768096"/>
                <a:gridCol w="74980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Фактор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Стан-ский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СберСити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Мыс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Цена кв.м аналога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305 000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483 000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340 000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Девелопер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+15%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+10%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+15%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Транспортная доступность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Класс проекта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-20%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Стадия строительства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-5%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-5%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Открытие метро (прогноз)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+15%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+10%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+15%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Масштаб/Формат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-10%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Итоговая коррект.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+35%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+40%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Приведённая цена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411 750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483 000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476 000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B5E8C"/>
                          </a:solidFill>
                        </a:rPr>
                        <a:t>Вес аналога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5E8C"/>
                          </a:solidFill>
                        </a:rPr>
                        <a:t>40%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5E8C"/>
                          </a:solidFill>
                        </a:rPr>
                        <a:t>40%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5E8C"/>
                          </a:solidFill>
                        </a:rPr>
                        <a:t>20%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Итог: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458 000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СТРАТЕГИИ РЕАЛИЗАЦИИ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Предпосылки и выводы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850392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Рекомендуемая рыночная цена реализации на старте продаж (III кв. 2026 г.)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10241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6C7"/>
                </a:solidFill>
              </a:rPr>
              <a:t>458 000 руб./кв.м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Средний темп продаж на старте: 8 лотов/месяц (до открытия метро)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1353312"/>
          </a:xfrm>
          <a:prstGeom prst="rect">
            <a:avLst/>
          </a:prstGeom>
          <a:solidFill>
            <a:srgbClr val="F1F5F9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11680"/>
            <a:ext cx="594360" cy="1353312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688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103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E8C"/>
                </a:solidFill>
              </a:rPr>
              <a:t>СТРАТЕГИЯ 1 – АКТИВНАЯ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395728"/>
            <a:ext cx="5303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Акцент на максимизацию темпов продаж. Пиковые значения — до 30–35 лотов/квартал с I квартала 2028 г. (после открытия метро). Более агрессивная ценовая политика роста.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0" y="2176272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E8C"/>
                </a:solidFill>
              </a:rPr>
              <a:t>Cash flow: ≈12.8 млрд руб.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37960" y="24140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Ср. цена: 520 000 руб./кв.м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493008"/>
            <a:ext cx="85039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93008"/>
            <a:ext cx="594360" cy="135331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502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35844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СТРАТЕГИЯ 2 – КОНСЕРВАТИВНАЯ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877056"/>
            <a:ext cx="5303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Ориентация на устойчивый темп продаж — 20–25 лотов/квартал в пиковый период. Более высокая доля продаж на поздних этапах, что увеличивает средневзвешенную цену.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92240" y="3657600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36941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C7"/>
                </a:solidFill>
              </a:rPr>
              <a:t>Cash flow: ≈13.2 млрд руб.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37960" y="38953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Ср. цена: 535 000 руб./кв.м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* В случае ухудшения рыночных условий темп реализации может быть снижен до 10–15 лотов/квартал, что увеличит период реализации Проекта.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СТРАТЕГИЯ РЕАЛИЗАЦИИ 1 – АКТИВНАЯ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24128"/>
          <a:ext cx="8686800" cy="3977640"/>
        </p:xfrm>
        <a:graphic>
          <a:graphicData uri="http://schemas.openxmlformats.org/drawingml/2006/table">
            <a:tbl>
              <a:tblPr/>
              <a:tblGrid>
                <a:gridCol w="2057400"/>
                <a:gridCol w="914400"/>
                <a:gridCol w="1051560"/>
                <a:gridCol w="1051560"/>
                <a:gridCol w="1051560"/>
                <a:gridCol w="1051560"/>
                <a:gridCol w="1051560"/>
              </a:tblGrid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ПОКАЗАТЕЛЬ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ЕД. ИЗМ.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ЭТАП 1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(1 оч.)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ЭТАП 2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(2 оч. I)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ЭТАП 3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(2 оч. II)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ЭТАП 4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(3 оч.)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ВСЕГО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Класс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Бизнес-Лайт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Объём лотов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шт.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380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420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450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550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1 800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Объём площади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тыс. кв.м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20.9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27.3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29.3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38.5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116.0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Ср. площадь лота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кв.м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55.0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65.0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65.1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70.0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64.4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Старт продаж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III кв. 26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 кв. 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III кв. 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 кв. 28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III кв. 26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Окончание строит.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IV кв. 28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 кв. 29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IV кв. 29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 кв. 31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 кв. 31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Ср. темп продаж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лот/мес.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Цена (старт)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руб./кв.м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458 000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485 000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505 000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525 000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458 000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Цена (ср.взвеш.)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руб./кв.м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490 000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530 000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550 000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580 000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520 000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Ср. бюджет лота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млн руб.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26.9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34.5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35.8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40.6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33.5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Сумма контрактов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млрд руб.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1.88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2.82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3.08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5.02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12.80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СТРАТЕГИЯ РЕАЛИЗАЦИИ 2 – КОНСЕРВАТИВНАЯ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24128"/>
          <a:ext cx="8686800" cy="3977640"/>
        </p:xfrm>
        <a:graphic>
          <a:graphicData uri="http://schemas.openxmlformats.org/drawingml/2006/table">
            <a:tbl>
              <a:tblPr/>
              <a:tblGrid>
                <a:gridCol w="2057400"/>
                <a:gridCol w="914400"/>
                <a:gridCol w="1051560"/>
                <a:gridCol w="1051560"/>
                <a:gridCol w="1051560"/>
                <a:gridCol w="1051560"/>
                <a:gridCol w="1051560"/>
              </a:tblGrid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ПОКАЗАТЕЛЬ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ЕД. ИЗМ.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ЭТАП 1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(1 оч.)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ЭТАП 2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(2 оч. I)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ЭТАП 3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(2 оч. II)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ЭТАП 4</a:t>
                      </a:r>
                      <a:endParaRPr lang="en-US" sz="750" dirty="0"/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(3 оч.)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ВСЕГО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Класс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Бизнес-Лайт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Бизнес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Объём лотов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шт.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380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420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450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550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1 800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Объём площади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тыс. кв.м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20.9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27.3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29.3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38.5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116.0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Ср. площадь лота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кв.м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55.0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65.0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65.1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70.0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64.4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Старт продаж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III кв. 26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 кв. 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III кв. 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 кв. 28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III кв. 26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Окончание строит.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IV кв. 28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 кв. 29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IV кв. 29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 кв. 31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II кв. 31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Ср. темп продаж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лот/мес.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Цена (старт)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руб./кв.м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458 000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485 000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505 000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525 000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458 000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Цена (ср.взвеш.)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руб./кв.м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490 000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530 000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555 000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600 000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535 000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Ср. бюджет лота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млн руб.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26.9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34.5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36.1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42.0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34.5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Сумма контрактов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млрд руб.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1.88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2.82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3.08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5.42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13.20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bnMAP.pro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2137"/>
                </a:solidFill>
              </a:rPr>
              <a:t>ПРОГНОЗ ДИНАМИКИ ЦЕН ПО ЭТАПАМ РЕАЛИЗАЦИИ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005840"/>
          <a:ext cx="8503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C7"/>
                </a:solidFill>
              </a:rPr>
              <a:t>bnMAP.pro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Цифровой сервис мониторинга и анализа рынка новостроек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0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6C7"/>
                </a:solidFill>
              </a:rPr>
              <a:t>КОНТАКТЫ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Телефон: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+7 903 149 66 50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E-mail: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smart@itlabrealty.ru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Сайт: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bnmap.pro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</a:rPr>
              <a:t>Аналитический отчёт по проекту ТПУ Ильинская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</a:rPr>
              <a:t>Май 2026 г. Конфиденциально.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B5E8C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371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ТПУ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ИЛЬИНСКАЯ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6F4"/>
                </a:solidFill>
              </a:rPr>
              <a:t>Аналитический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6F4"/>
                </a:solidFill>
              </a:rPr>
              <a:t>отчёт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90B0"/>
                </a:solidFill>
              </a:rPr>
              <a:t>bnMAP.pro ©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ТПУ Ильинская – Аналитический отчёт bnMAP.pro</dc:title>
  <dc:subject>PptxGenJS Presentation</dc:subject>
  <dc:creator>PptxGenJS</dc:creator>
  <cp:lastModifiedBy>PptxGenJS</cp:lastModifiedBy>
  <cp:revision>1</cp:revision>
  <dcterms:created xsi:type="dcterms:W3CDTF">2026-05-05T07:23:42Z</dcterms:created>
  <dcterms:modified xsi:type="dcterms:W3CDTF">2026-05-05T07:23:42Z</dcterms:modified>
</cp:coreProperties>
</file>